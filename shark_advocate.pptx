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naming the correction you gave us. We were building an impact assessment. We're now building an advocate. This deck is that shift, made concrete.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in their words. This slide proves we heard them. Do not soften it — we had it wrong, this is what we changed, here's the analogy you gave 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proves we understand the architecture. The shark is ONE ambassador in a chamber. I am not building the referee. I am building one delegate.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conceptual slide. Anticipate the question: 'isn't a biased AI dangerous?' Answer: bias about INTERESTS is the design. Honesty about FACTS is non-negotiable. A UN ambassador is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choice as 'it can argue', not 'it's convenient'. Then put the data-poor question to them as a genuine scope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data as the CREDIBILITY ENGINE for advocacy, not as the deliverable. The mentors care that we don't hallucinate. The gold note is the precision check — GBIF is distribution, not threats. Everything is re-runnable in a live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these as the GRIEVANCE, not a neutral threat register. Each row carries its source tag on the right — that's the anti-hallucination proof. Two accuracy points to hold: the 30-49% is the IUCN GLOBAL figure over three generations (159 years) — do not confuse it with the 92% east-coast study, which is a different, narrower claim. And A2bd decodes as (b) abundance index, (d) exploitation levels — be ready if they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parts are all framed in FIRST PERSON and self-interested: impact on ME, MY demand, MY alternative. Then the killer line — it never weighs swimmer safety. That's the system's job. Then switch to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 in the gold bar: the shark is partisan but not reflexive. It BACKS the non-lethal options and even cites WA's finding that the SMART trial didn't work — an inconvenient fact it reports honestly. That's the difference between an advocate and a zealot. Two accuracy notes: the QLD 2025-29 plan CONTINUES nets and traditional drumlines until alternatives are proven — don't call it 'mostly non-lethal'. And WA ended its SMART trial because the Chief Scientist found it ineffective in WA CONDITIONS, not because it had no value anywhere.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ask for the final presentation. Step 1 is the species choice. Step 2 is the idea I want to pitch: go location-first. Pick a place, find who lives there, find what threatens them, and give them voices. That turns the town hall from an abstraction into a real planning decision about a real place — which is much closer to what a virtual town hall would actually be used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THEIR decisions, not my summary. The first question is the big one — conflict resolution between self-interested reps is the architecture question they raised, and I want to know if it's my scope. Own the gaps openly.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ucnredlist.org/species/3855/2878674" TargetMode="External"/><Relationship Id="rId2" Type="http://schemas.openxmlformats.org/officeDocument/2006/relationships/hyperlink" Target="https://www.gbif.org/species/2420694" TargetMode="External"/><Relationship Id="rId3" Type="http://schemas.openxmlformats.org/officeDocument/2006/relationships/hyperlink" Target="https://www.environment.gov.au/cgi-bin/sprat/public/publicspecies.pl?taxon_id=64470" TargetMode="External"/><Relationship Id="rId4" Type="http://schemas.openxmlformats.org/officeDocument/2006/relationships/hyperlink" Target="https://www.cms.int/species/carcharodon-carcharias" TargetMode="External"/><Relationship Id="rId5" Type="http://schemas.openxmlformats.org/officeDocument/2006/relationships/hyperlink" Target="https://seamap.env.duke.edu/species/159903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dpi.qld.gov.au/news-media/campaigns/sharksmart/program" TargetMode="External"/><Relationship Id="rId2" Type="http://schemas.openxmlformats.org/officeDocument/2006/relationships/hyperlink" Target="https://www.dpi.qld.gov.au/news-media/campaigns/sharksmart/program/about/shark-management-plan" TargetMode="External"/><Relationship Id="rId3" Type="http://schemas.openxmlformats.org/officeDocument/2006/relationships/hyperlink" Target="https://www.dpi.qld.gov.au/news-media/campaigns/sharksmart/equipment/catch-alert" TargetMode="External"/><Relationship Id="rId4" Type="http://schemas.openxmlformats.org/officeDocument/2006/relationships/hyperlink" Target="https://www.sharksmart.nsw.gov.au/current-program" TargetMode="External"/><Relationship Id="rId5" Type="http://schemas.openxmlformats.org/officeDocument/2006/relationships/hyperlink" Target="https://www.sharksmart.nsw.gov.au/current-program" TargetMode="External"/><Relationship Id="rId6" Type="http://schemas.openxmlformats.org/officeDocument/2006/relationships/hyperlink" Target="https://www.epa.wa.gov.au/proposals/western-australian-shark-hazard-mitigation-drum-line-program-2014-2017" TargetMode="External"/><Relationship Id="rId7" Type="http://schemas.openxmlformats.org/officeDocument/2006/relationships/hyperlink" Target="http://www.sharksmart.com.au/about/state-government" TargetMode="Externa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on_shar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1143000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83080" y="594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56 · WORKING SESSION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1965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Shark's Ambassador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502920" y="29260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impact assessment. An advocate — self-interested by design, data-driven by necessity.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02920" y="3931920"/>
            <a:ext cx="11155680" cy="960120"/>
          </a:xfrm>
          <a:prstGeom prst="roundRect">
            <a:avLst>
              <a:gd name="adj" fmla="val 9524"/>
            </a:avLst>
          </a:prstGeom>
          <a:solidFill>
            <a:srgbClr val="0B2A3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393192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question for you: does the shark argue like a real ambassador?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5852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checkpoint · Wednesday 15 July 2026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61996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Platypus · Monash–Warwick Alliance × Pluraversal Services · Presenter: Hari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9192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correction we took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8755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told us we had the framing wrong. This is what changed.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440680" cy="2377440"/>
          </a:xfrm>
          <a:prstGeom prst="roundRect">
            <a:avLst>
              <a:gd name="adj" fmla="val 3846"/>
            </a:avLst>
          </a:prstGeom>
          <a:solidFill>
            <a:srgbClr val="F4F8FB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/home/claude/icon_warning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2061058"/>
            <a:ext cx="358445" cy="358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65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 had (wrong)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51460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top-down AI impact assessment.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how policies affect species.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Neutral. Balanced. Judging from above.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691640"/>
            <a:ext cx="5440680" cy="2377440"/>
          </a:xfrm>
          <a:prstGeom prst="roundRect">
            <a:avLst>
              <a:gd name="adj" fmla="val 3846"/>
            </a:avLst>
          </a:prstGeom>
          <a:solidFill>
            <a:srgbClr val="09192F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192024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icon_commen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058" y="2061058"/>
            <a:ext cx="358445" cy="35844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965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we're building (right)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83680" y="251460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advocate for a species.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Arguing FOR its interests when a policy is proposed.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Self-interested. Partisan. Speaking from below.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02920" y="4389120"/>
            <a:ext cx="11155680" cy="1417320"/>
          </a:xfrm>
          <a:prstGeom prst="roundRect">
            <a:avLst>
              <a:gd name="adj" fmla="val 6452"/>
            </a:avLst>
          </a:prstGeom>
          <a:solidFill>
            <a:srgbClr val="0F3A52"/>
          </a:solidFill>
          <a:ln w="12700">
            <a:solidFill>
              <a:srgbClr val="F4C95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4709160"/>
            <a:ext cx="731520" cy="731520"/>
          </a:xfrm>
          <a:prstGeom prst="ellipse">
            <a:avLst/>
          </a:prstGeom>
          <a:solidFill>
            <a:srgbClr val="F4C95D"/>
          </a:solidFill>
          <a:ln/>
        </p:spPr>
      </p:sp>
      <p:pic>
        <p:nvPicPr>
          <p:cNvPr id="16" name="Image 2" descr="/home/claude/icon_scal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94" y="4870094"/>
            <a:ext cx="409651" cy="4096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389120"/>
            <a:ext cx="96926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analogy that fixed it: 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 meeting. Each ambassador represents their own nation's interests, with their own biases. Nobody expects the ambassador to be neutral — that is not their job. Conflict is resolved at the system level, not inside any one representative.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Where the shark sits: the virtual town hall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8755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policy is proposed. Every affected species sends a representative. They argue. The system resolves.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3383280" cy="2651760"/>
          </a:xfrm>
          <a:prstGeom prst="roundRect">
            <a:avLst>
              <a:gd name="adj" fmla="val 3448"/>
            </a:avLst>
          </a:prstGeom>
          <a:solidFill>
            <a:srgbClr val="0B2A3F"/>
          </a:solidFill>
          <a:ln w="12700">
            <a:solidFill>
              <a:srgbClr val="0270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2011680"/>
            <a:ext cx="777240" cy="7772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/home/claude/icon_gavel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521" y="2182673"/>
            <a:ext cx="435254" cy="4352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5528" y="29260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policy is proposed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95528" y="3364992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“Build a road.”  “Keep the drum lines.”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51960" y="1737360"/>
            <a:ext cx="3383280" cy="2651760"/>
          </a:xfrm>
          <a:prstGeom prst="roundRect">
            <a:avLst>
              <a:gd name="adj" fmla="val 3448"/>
            </a:avLst>
          </a:prstGeom>
          <a:solidFill>
            <a:srgbClr val="0B2A3F"/>
          </a:solidFill>
          <a:ln w="12700">
            <a:solidFill>
              <a:srgbClr val="02707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44568" y="201168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icon_commen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5561" y="2182673"/>
            <a:ext cx="435254" cy="43525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44568" y="29260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Representatives argue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44568" y="3364992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species advocates for itself — the shark, the turtle, the dolphin. Each is biased, on purpose.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01000" y="1737360"/>
            <a:ext cx="3383280" cy="2651760"/>
          </a:xfrm>
          <a:prstGeom prst="roundRect">
            <a:avLst>
              <a:gd name="adj" fmla="val 3448"/>
            </a:avLst>
          </a:prstGeom>
          <a:solidFill>
            <a:srgbClr val="0B2A3F"/>
          </a:solidFill>
          <a:ln w="12700">
            <a:solidFill>
              <a:srgbClr val="02707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93608" y="2011680"/>
            <a:ext cx="777240" cy="777240"/>
          </a:xfrm>
          <a:prstGeom prst="ellipse">
            <a:avLst/>
          </a:prstGeom>
          <a:solidFill>
            <a:srgbClr val="F4C95D"/>
          </a:solidFill>
          <a:ln/>
        </p:spPr>
      </p:sp>
      <p:pic>
        <p:nvPicPr>
          <p:cNvPr id="16" name="Image 2" descr="/home/claude/icon_scal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4601" y="2182673"/>
            <a:ext cx="435254" cy="43525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93608" y="29260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C95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system resolves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93608" y="3364992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between species is settled ABOVE the representatives — never inside them.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3977640" y="27889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7726680" y="27889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6"/>
          <p:cNvSpPr/>
          <p:nvPr/>
        </p:nvSpPr>
        <p:spPr>
          <a:xfrm>
            <a:off x="502920" y="4663440"/>
            <a:ext cx="11155680" cy="1143000"/>
          </a:xfrm>
          <a:prstGeom prst="roundRect">
            <a:avLst>
              <a:gd name="adj" fmla="val 8000"/>
            </a:avLst>
          </a:prstGeom>
          <a:solidFill>
            <a:srgbClr val="0F3A5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68680" y="4663440"/>
            <a:ext cx="10607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scope for today: 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seat at that table. The Great White Shark — its data, its interests, and its voice. The other seats and the resolution layer are the wider project.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9192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kind of advocate the shark 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8755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rules that sound contradictory — and are not.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5440680" cy="2743200"/>
          </a:xfrm>
          <a:prstGeom prst="roundRect">
            <a:avLst>
              <a:gd name="adj" fmla="val 3333"/>
            </a:avLst>
          </a:prstGeom>
          <a:solidFill>
            <a:srgbClr val="09192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1168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/home/claude/icon_shar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174" y="2172614"/>
            <a:ext cx="409651" cy="4096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57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Self-interested — by design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shark argues for sharks. Full stop.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balance swimmers, fishers or tourism.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enlightened, neutral, or fair-minded.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partisan is the job, not a flaw.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737360"/>
            <a:ext cx="5440680" cy="2743200"/>
          </a:xfrm>
          <a:prstGeom prst="roundRect">
            <a:avLst>
              <a:gd name="adj" fmla="val 3333"/>
            </a:avLst>
          </a:prstGeom>
          <a:solidFill>
            <a:srgbClr val="F4F8FB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92240" y="201168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icon_databas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3174" y="2172614"/>
            <a:ext cx="409651" cy="4096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057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707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Data-driven — by necessity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83680" y="260604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traces to a real scientific source.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AI-generated knowledge. No hallucination.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Certainty is flagged, never overstated.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makes the advocacy credible.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02920" y="4846320"/>
            <a:ext cx="11155680" cy="1051560"/>
          </a:xfrm>
          <a:prstGeom prst="roundRect">
            <a:avLst>
              <a:gd name="adj" fmla="val 8696"/>
            </a:avLst>
          </a:prstGeom>
          <a:solidFill>
            <a:srgbClr val="0B2A3F"/>
          </a:solidFill>
          <a:ln/>
        </p:spPr>
      </p:sp>
      <p:sp>
        <p:nvSpPr>
          <p:cNvPr id="15" name="Text 11"/>
          <p:cNvSpPr/>
          <p:nvPr/>
        </p:nvSpPr>
        <p:spPr>
          <a:xfrm>
            <a:off x="868680" y="484632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Biased about interests. Honest about facts.  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ambassador does not lie — they argue hard, from the record.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the Great White Shark holds this seat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8755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because it can actually argue — and has something to argue about.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1155680" cy="1325880"/>
          </a:xfrm>
          <a:prstGeom prst="roundRect">
            <a:avLst>
              <a:gd name="adj" fmla="val 6897"/>
            </a:avLst>
          </a:prstGeom>
          <a:solidFill>
            <a:srgbClr val="0B2A3F"/>
          </a:solidFill>
          <a:ln w="12700">
            <a:solidFill>
              <a:srgbClr val="0270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/home/claude/icon_char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233" y="2136953"/>
            <a:ext cx="435254" cy="4352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85623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It has evidence to argue from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577840" y="187452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~38k georeferenced sightings. A data-poor species would force the advocate to guess — and guessing is what we must never do.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3154680"/>
            <a:ext cx="11155680" cy="1325880"/>
          </a:xfrm>
          <a:prstGeom prst="roundRect">
            <a:avLst>
              <a:gd name="adj" fmla="val 6897"/>
            </a:avLst>
          </a:prstGeom>
          <a:solidFill>
            <a:srgbClr val="0B2A3F"/>
          </a:solidFill>
          <a:ln w="12700">
            <a:solidFill>
              <a:srgbClr val="02707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3429000"/>
            <a:ext cx="777240" cy="7772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1" name="Image 1" descr="/home/claude/icon_gavel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233" y="3599993"/>
            <a:ext cx="435254" cy="43525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37360" y="331927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It has a live grievance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577840" y="333756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by law, yet still killed by government shark-control programs. There is a real policy on the table today.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02920" y="4617720"/>
            <a:ext cx="11155680" cy="1325880"/>
          </a:xfrm>
          <a:prstGeom prst="roundRect">
            <a:avLst>
              <a:gd name="adj" fmla="val 6897"/>
            </a:avLst>
          </a:prstGeom>
          <a:solidFill>
            <a:srgbClr val="0B2A3F"/>
          </a:solidFill>
          <a:ln w="12700">
            <a:solidFill>
              <a:srgbClr val="02707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4892040"/>
            <a:ext cx="777240" cy="777240"/>
          </a:xfrm>
          <a:prstGeom prst="ellipse">
            <a:avLst/>
          </a:prstGeom>
          <a:solidFill>
            <a:srgbClr val="F4C95D"/>
          </a:solidFill>
          <a:ln/>
        </p:spPr>
      </p:sp>
      <p:pic>
        <p:nvPicPr>
          <p:cNvPr id="16" name="Image 2" descr="/home/claude/icon_shield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233" y="5063033"/>
            <a:ext cx="435254" cy="43525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78231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C95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It has legal standing to cite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5577840" y="480060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EPBC Act, IUCN, CITES, CMS. The shark can point to rights, not just to suffering.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02920" y="60807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 for you: is a data-poor species (a native bee, a freshwater mussel) in scope? It is the harder, more honest test of the framework.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9192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evidence the shark argues from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8755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data only. This is the guard against hallucination — the thing that makes an advocate credible rather than noisy.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2377440" cy="411480"/>
          </a:xfrm>
          <a:prstGeom prst="rect">
            <a:avLst/>
          </a:prstGeom>
          <a:solidFill>
            <a:srgbClr val="09192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6459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880360" y="1645920"/>
            <a:ext cx="3108960" cy="411480"/>
          </a:xfrm>
          <a:prstGeom prst="rect">
            <a:avLst/>
          </a:prstGeom>
          <a:solidFill>
            <a:srgbClr val="09192F"/>
          </a:solidFill>
          <a:ln/>
        </p:spPr>
      </p:sp>
      <p:sp>
        <p:nvSpPr>
          <p:cNvPr id="7" name="Text 5"/>
          <p:cNvSpPr/>
          <p:nvPr/>
        </p:nvSpPr>
        <p:spPr>
          <a:xfrm>
            <a:off x="2971800" y="16459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gives the advocate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89320" y="1645920"/>
            <a:ext cx="3200400" cy="411480"/>
          </a:xfrm>
          <a:prstGeom prst="rect">
            <a:avLst/>
          </a:prstGeom>
          <a:solidFill>
            <a:srgbClr val="09192F"/>
          </a:solidFill>
          <a:ln/>
        </p:spPr>
      </p:sp>
      <p:sp>
        <p:nvSpPr>
          <p:cNvPr id="9" name="Text 7"/>
          <p:cNvSpPr/>
          <p:nvPr/>
        </p:nvSpPr>
        <p:spPr>
          <a:xfrm>
            <a:off x="6080760" y="16459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189720" y="1645920"/>
            <a:ext cx="2468880" cy="411480"/>
          </a:xfrm>
          <a:prstGeom prst="rect">
            <a:avLst/>
          </a:prstGeom>
          <a:solidFill>
            <a:srgbClr val="09192F"/>
          </a:solidFill>
          <a:ln/>
        </p:spPr>
      </p:sp>
      <p:sp>
        <p:nvSpPr>
          <p:cNvPr id="11" name="Text 9"/>
          <p:cNvSpPr/>
          <p:nvPr/>
        </p:nvSpPr>
        <p:spPr>
          <a:xfrm>
            <a:off x="9281160" y="16459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access it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057400"/>
            <a:ext cx="23774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0574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IUCN Red List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880360" y="2057400"/>
            <a:ext cx="3108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71800" y="20574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&amp; threats — the grievance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89320" y="2057400"/>
            <a:ext cx="32004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20574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(A2bd); 53-yr generation length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2057400"/>
            <a:ext cx="24688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20574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API (free token)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2057400"/>
            <a:ext cx="64008" cy="8229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1" name="Shape 19"/>
          <p:cNvSpPr/>
          <p:nvPr/>
        </p:nvSpPr>
        <p:spPr>
          <a:xfrm>
            <a:off x="502920" y="2880360"/>
            <a:ext cx="2377440" cy="822960"/>
          </a:xfrm>
          <a:prstGeom prst="rect">
            <a:avLst/>
          </a:prstGeom>
          <a:solidFill>
            <a:srgbClr val="F4F8FB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8803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GBIF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880360" y="2880360"/>
            <a:ext cx="3108960" cy="822960"/>
          </a:xfrm>
          <a:prstGeom prst="rect">
            <a:avLst/>
          </a:prstGeom>
          <a:solidFill>
            <a:srgbClr val="F4F8FB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71800" y="28803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shark actually is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89320" y="2880360"/>
            <a:ext cx="3200400" cy="822960"/>
          </a:xfrm>
          <a:prstGeom prst="rect">
            <a:avLst/>
          </a:prstGeom>
          <a:solidFill>
            <a:srgbClr val="F4F8FB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28803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~38k georeferenced sightings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89720" y="2880360"/>
            <a:ext cx="2468880" cy="822960"/>
          </a:xfrm>
          <a:prstGeom prst="rect">
            <a:avLst/>
          </a:prstGeom>
          <a:solidFill>
            <a:srgbClr val="F4F8FB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81160" y="28803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REST API — no key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2880360"/>
            <a:ext cx="64008" cy="822960"/>
          </a:xfrm>
          <a:prstGeom prst="rect">
            <a:avLst/>
          </a:prstGeom>
          <a:solidFill>
            <a:srgbClr val="F4C95D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920" y="3703320"/>
            <a:ext cx="23774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7033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EPBC Act / SPRAT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880360" y="3703320"/>
            <a:ext cx="3108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71800" y="37033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legal right it cites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89320" y="3703320"/>
            <a:ext cx="32004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80760" y="37033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+ Migratory (listed 1999)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189720" y="3703320"/>
            <a:ext cx="24688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81160" y="37033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gov. profile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2920" y="3703320"/>
            <a:ext cx="64008" cy="8229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9" name="Shape 37"/>
          <p:cNvSpPr/>
          <p:nvPr/>
        </p:nvSpPr>
        <p:spPr>
          <a:xfrm>
            <a:off x="502920" y="4526280"/>
            <a:ext cx="2377440" cy="822960"/>
          </a:xfrm>
          <a:prstGeom prst="rect">
            <a:avLst/>
          </a:prstGeom>
          <a:solidFill>
            <a:srgbClr val="F4F8FB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45262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/ CMS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880360" y="4526280"/>
            <a:ext cx="3108960" cy="822960"/>
          </a:xfrm>
          <a:prstGeom prst="rect">
            <a:avLst/>
          </a:prstGeom>
          <a:solidFill>
            <a:srgbClr val="F4F8FB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71800" y="45262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standing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989320" y="4526280"/>
            <a:ext cx="3200400" cy="822960"/>
          </a:xfrm>
          <a:prstGeom prst="rect">
            <a:avLst/>
          </a:prstGeom>
          <a:solidFill>
            <a:srgbClr val="F4F8FB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80760" y="45262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App. II; CMS App. I &amp; II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189720" y="4526280"/>
            <a:ext cx="2468880" cy="822960"/>
          </a:xfrm>
          <a:prstGeom prst="rect">
            <a:avLst/>
          </a:prstGeom>
          <a:solidFill>
            <a:srgbClr val="F4F8FB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281160" y="45262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treaty database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02920" y="4526280"/>
            <a:ext cx="64008" cy="8229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8" name="Shape 46"/>
          <p:cNvSpPr/>
          <p:nvPr/>
        </p:nvSpPr>
        <p:spPr>
          <a:xfrm>
            <a:off x="502920" y="5486400"/>
            <a:ext cx="11155680" cy="548640"/>
          </a:xfrm>
          <a:prstGeom prst="roundRect">
            <a:avLst>
              <a:gd name="adj" fmla="val 13333"/>
            </a:avLst>
          </a:prstGeom>
          <a:solidFill>
            <a:srgbClr val="FFF4E0"/>
          </a:solidFill>
          <a:ln w="12700">
            <a:solidFill>
              <a:srgbClr val="F4C95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960" y="5486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GBIF gives distribution, NOT threats. Threats come from IUCN and EPBC. We never blur the two.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02920" y="617220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51" name="Text 49"/>
          <p:cNvSpPr/>
          <p:nvPr/>
        </p:nvSpPr>
        <p:spPr>
          <a:xfrm>
            <a:off x="502920" y="6172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u="sng" dirty="0">
                <a:solidFill>
                  <a:srgbClr val="09192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IUCN ↗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743200" y="617220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4C95D"/>
          </a:solidFill>
          <a:ln/>
        </p:spPr>
      </p:sp>
      <p:sp>
        <p:nvSpPr>
          <p:cNvPr id="53" name="Text 51"/>
          <p:cNvSpPr/>
          <p:nvPr/>
        </p:nvSpPr>
        <p:spPr>
          <a:xfrm>
            <a:off x="2743200" y="6172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u="sng" dirty="0">
                <a:solidFill>
                  <a:srgbClr val="09192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GBIF ↗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983480" y="617220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55" name="Text 53"/>
          <p:cNvSpPr/>
          <p:nvPr/>
        </p:nvSpPr>
        <p:spPr>
          <a:xfrm>
            <a:off x="4983480" y="6172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EPBC / SPRAT ↗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7406640" y="617220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0B2A3F"/>
          </a:solidFill>
          <a:ln/>
        </p:spPr>
      </p:sp>
      <p:sp>
        <p:nvSpPr>
          <p:cNvPr id="57" name="Text 55"/>
          <p:cNvSpPr/>
          <p:nvPr/>
        </p:nvSpPr>
        <p:spPr>
          <a:xfrm>
            <a:off x="7406640" y="6172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CITES / CMS ↗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9646920" y="617220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59" name="Text 57"/>
          <p:cNvSpPr/>
          <p:nvPr/>
        </p:nvSpPr>
        <p:spPr>
          <a:xfrm>
            <a:off x="9646920" y="6172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u="sng" dirty="0">
                <a:solidFill>
                  <a:srgbClr val="09192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OBIS ↗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the shark is angry about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8755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threat below is recorded in a source — not inferred, not invented. This is the grievance it argues from.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1155680" cy="1024128"/>
          </a:xfrm>
          <a:prstGeom prst="roundRect">
            <a:avLst>
              <a:gd name="adj" fmla="val 8929"/>
            </a:avLst>
          </a:prstGeom>
          <a:solidFill>
            <a:srgbClr val="0B2A3F"/>
          </a:solidFill>
          <a:ln w="12700">
            <a:solidFill>
              <a:srgbClr val="0270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65376"/>
            <a:ext cx="676656" cy="676656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/home/claude/icon_warning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672" y="2014240"/>
            <a:ext cx="378927" cy="3789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27632" y="180136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9616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Bycatch in inshore fisheries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627632" y="2185416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in longlines, setlines, gillnets, trawls, rod-and-reel and fish traps. IUCN names this the primary catch route.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9601200" y="1993392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0F3A52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0" y="199339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IUCN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02920" y="2825496"/>
            <a:ext cx="11155680" cy="1024128"/>
          </a:xfrm>
          <a:prstGeom prst="roundRect">
            <a:avLst>
              <a:gd name="adj" fmla="val 8929"/>
            </a:avLst>
          </a:prstGeom>
          <a:solidFill>
            <a:srgbClr val="0B2A3F"/>
          </a:solidFill>
          <a:ln w="12700">
            <a:solidFill>
              <a:srgbClr val="02707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9808" y="2999232"/>
            <a:ext cx="676656" cy="676656"/>
          </a:xfrm>
          <a:prstGeom prst="ellipse">
            <a:avLst/>
          </a:prstGeom>
          <a:solidFill>
            <a:srgbClr val="F4C95D"/>
          </a:solidFill>
          <a:ln/>
        </p:spPr>
      </p:sp>
      <p:pic>
        <p:nvPicPr>
          <p:cNvPr id="13" name="Image 1" descr="/home/claude/icon_gavel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672" y="3148096"/>
            <a:ext cx="378927" cy="37892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27632" y="293522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C95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Beach-protection programs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1627632" y="331927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in shark-control programs in Australia and South Africa — the very governments that list it as protected.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9601200" y="3127248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0F3A52"/>
          </a:solidFill>
          <a:ln w="12700">
            <a:solidFill>
              <a:srgbClr val="F4C95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601200" y="312724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IUCN · EPBC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02920" y="3959352"/>
            <a:ext cx="11155680" cy="1024128"/>
          </a:xfrm>
          <a:prstGeom prst="roundRect">
            <a:avLst>
              <a:gd name="adj" fmla="val 8929"/>
            </a:avLst>
          </a:prstGeom>
          <a:solidFill>
            <a:srgbClr val="0B2A3F"/>
          </a:solidFill>
          <a:ln w="12700">
            <a:solidFill>
              <a:srgbClr val="02707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49808" y="4133088"/>
            <a:ext cx="676656" cy="676656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0" name="Image 2" descr="/home/claude/icon_anchor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672" y="4281952"/>
            <a:ext cx="378927" cy="37892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27632" y="40690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A89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Trade in jaws, teeth and fins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1627632" y="445312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Killed for sport and for its jaws, teeth and fins — the exploitation behind the 'd' in its A2bd listing.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9601200" y="4261104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0F3A5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9601200" y="426110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IUCN · CITES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502920" y="5093208"/>
            <a:ext cx="11155680" cy="1024128"/>
          </a:xfrm>
          <a:prstGeom prst="roundRect">
            <a:avLst>
              <a:gd name="adj" fmla="val 8929"/>
            </a:avLst>
          </a:prstGeom>
          <a:solidFill>
            <a:srgbClr val="0B2A3F"/>
          </a:solidFill>
          <a:ln w="12700">
            <a:solidFill>
              <a:srgbClr val="02707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49808" y="5266944"/>
            <a:ext cx="676656" cy="67665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7" name="Image 3" descr="/home/claude/icon_char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672" y="5415808"/>
            <a:ext cx="378927" cy="378927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627632" y="520293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ADC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30–49% global decline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1627632" y="5586984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reduced 30–49% over three generations — that is 159 years. Slow to fall, slower to recover.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9601200" y="539496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0F3A52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9601200" y="5394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IUCN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502920" y="617220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biology that makes it all worse: 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53-year generation length. Females don't mature until 33. Every animal killed takes decades to replace — which is exactly why the shark refuses to accept 'a few' as acceptable losses.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the shark speaks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8755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policy comes in. A cited, partisan argument comes out — with certainty flagged.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697480" cy="777240"/>
          </a:xfrm>
          <a:prstGeom prst="roundRect">
            <a:avLst>
              <a:gd name="adj" fmla="val 11765"/>
            </a:avLst>
          </a:prstGeom>
          <a:solidFill>
            <a:srgbClr val="0B2A3F"/>
          </a:solidFill>
          <a:ln w="12700">
            <a:solidFill>
              <a:srgbClr val="0270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8308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/home/claude/icon_char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524" y="1907804"/>
            <a:ext cx="317480" cy="317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9164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ME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310128" y="1691640"/>
            <a:ext cx="2697480" cy="777240"/>
          </a:xfrm>
          <a:prstGeom prst="roundRect">
            <a:avLst>
              <a:gd name="adj" fmla="val 11765"/>
            </a:avLst>
          </a:prstGeom>
          <a:solidFill>
            <a:srgbClr val="0B2A3F"/>
          </a:solidFill>
          <a:ln w="12700">
            <a:solidFill>
              <a:srgbClr val="02707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93008" y="1783080"/>
            <a:ext cx="566928" cy="566928"/>
          </a:xfrm>
          <a:prstGeom prst="ellipse">
            <a:avLst/>
          </a:prstGeom>
          <a:solidFill>
            <a:srgbClr val="F4C95D"/>
          </a:solidFill>
          <a:ln/>
        </p:spPr>
      </p:sp>
      <p:pic>
        <p:nvPicPr>
          <p:cNvPr id="10" name="Image 1" descr="/home/claude/icon_shield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7732" y="1907804"/>
            <a:ext cx="317480" cy="317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78808" y="169164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117336" y="1691640"/>
            <a:ext cx="2697480" cy="777240"/>
          </a:xfrm>
          <a:prstGeom prst="roundRect">
            <a:avLst>
              <a:gd name="adj" fmla="val 11765"/>
            </a:avLst>
          </a:prstGeom>
          <a:solidFill>
            <a:srgbClr val="0B2A3F"/>
          </a:solidFill>
          <a:ln w="12700">
            <a:solidFill>
              <a:srgbClr val="02707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300216" y="178308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4" name="Image 2" descr="/home/claude/icon_commen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4940" y="1907804"/>
            <a:ext cx="317480" cy="317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86016" y="169164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demand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924544" y="1691640"/>
            <a:ext cx="2697480" cy="777240"/>
          </a:xfrm>
          <a:prstGeom prst="roundRect">
            <a:avLst>
              <a:gd name="adj" fmla="val 11765"/>
            </a:avLst>
          </a:prstGeom>
          <a:solidFill>
            <a:srgbClr val="0B2A3F"/>
          </a:solidFill>
          <a:ln w="12700">
            <a:solidFill>
              <a:srgbClr val="02707B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107424" y="178308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8" name="Image 3" descr="/home/claude/icon_layers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2148" y="1907804"/>
            <a:ext cx="317480" cy="317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793224" y="169164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alternative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02920" y="2743200"/>
            <a:ext cx="11155680" cy="2468880"/>
          </a:xfrm>
          <a:prstGeom prst="roundRect">
            <a:avLst>
              <a:gd name="adj" fmla="val 3704"/>
            </a:avLst>
          </a:prstGeom>
          <a:solidFill>
            <a:srgbClr val="0F3A5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822960" y="28529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town hall puts a policy to the floor: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822960" y="3218688"/>
            <a:ext cx="6583680" cy="502920"/>
          </a:xfrm>
          <a:prstGeom prst="roundRect">
            <a:avLst>
              <a:gd name="adj" fmla="val 18182"/>
            </a:avLst>
          </a:prstGeom>
          <a:solidFill>
            <a:srgbClr val="1C3A52"/>
          </a:solidFill>
          <a:ln/>
        </p:spPr>
      </p:sp>
      <p:sp>
        <p:nvSpPr>
          <p:cNvPr id="23" name="Text 17"/>
          <p:cNvSpPr/>
          <p:nvPr/>
        </p:nvSpPr>
        <p:spPr>
          <a:xfrm>
            <a:off x="1005840" y="3218688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“Should Queensland keep its lethal drum lines?”</a:t>
            </a:r>
            <a:endParaRPr lang="en-US" sz="1250" dirty="0"/>
          </a:p>
        </p:txBody>
      </p:sp>
      <p:pic>
        <p:nvPicPr>
          <p:cNvPr id="24" name="Image 4" descr="/home/claude/icon_shark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931920"/>
            <a:ext cx="548640" cy="5486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00200" y="3858768"/>
            <a:ext cx="9784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and I can show why.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Drum lines kill my kind, a species your own government lists as Vulnerable. A court has already forced catch-alert conditions. </a:t>
            </a:r>
            <a:pPr indent="0" marL="0">
              <a:buNone/>
            </a:pPr>
            <a:r>
              <a:rPr lang="en-US" sz="13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[IUCN 2022] [EPBC Act] [HSI v QLD 2019]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high. Use tagged, non-lethal release instead.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502920" y="53949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what it does NOT do: it never weighs swimmer safety against its own survival. That trade-off belongs to the system, not to the ambassador.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502920" y="589788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an interactive 3D shark that argues aloud across 7 real policies (QLD, NSW, WA, South Africa, eco-barriers).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9192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policies the shark argues against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8755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real, current policies — each one live in the demo, each one traceable to its official source.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371600" cy="365760"/>
          </a:xfrm>
          <a:prstGeom prst="rect">
            <a:avLst/>
          </a:prstGeom>
          <a:solidFill>
            <a:srgbClr val="09192F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00200"/>
            <a:ext cx="1243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74520" y="1600200"/>
            <a:ext cx="3200400" cy="365760"/>
          </a:xfrm>
          <a:prstGeom prst="rect">
            <a:avLst/>
          </a:prstGeom>
          <a:solidFill>
            <a:srgbClr val="09192F"/>
          </a:solidFill>
          <a:ln/>
        </p:spPr>
      </p:sp>
      <p:sp>
        <p:nvSpPr>
          <p:cNvPr id="7" name="Text 5"/>
          <p:cNvSpPr/>
          <p:nvPr/>
        </p:nvSpPr>
        <p:spPr>
          <a:xfrm>
            <a:off x="1938528" y="1600200"/>
            <a:ext cx="3072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74920" y="1600200"/>
            <a:ext cx="4114800" cy="365760"/>
          </a:xfrm>
          <a:prstGeom prst="rect">
            <a:avLst/>
          </a:prstGeom>
          <a:solidFill>
            <a:srgbClr val="09192F"/>
          </a:solidFill>
          <a:ln/>
        </p:spPr>
      </p:sp>
      <p:sp>
        <p:nvSpPr>
          <p:cNvPr id="9" name="Text 7"/>
          <p:cNvSpPr/>
          <p:nvPr/>
        </p:nvSpPr>
        <p:spPr>
          <a:xfrm>
            <a:off x="5138928" y="1600200"/>
            <a:ext cx="3986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89720" y="1600200"/>
            <a:ext cx="1463040" cy="365760"/>
          </a:xfrm>
          <a:prstGeom prst="rect">
            <a:avLst/>
          </a:prstGeom>
          <a:solidFill>
            <a:srgbClr val="09192F"/>
          </a:solidFill>
          <a:ln/>
        </p:spPr>
      </p:sp>
      <p:sp>
        <p:nvSpPr>
          <p:cNvPr id="11" name="Text 9"/>
          <p:cNvSpPr/>
          <p:nvPr/>
        </p:nvSpPr>
        <p:spPr>
          <a:xfrm>
            <a:off x="9253728" y="1600200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Shark's stance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652760" y="1600200"/>
            <a:ext cx="1005840" cy="365760"/>
          </a:xfrm>
          <a:prstGeom prst="rect">
            <a:avLst/>
          </a:prstGeom>
          <a:solidFill>
            <a:srgbClr val="09192F"/>
          </a:solidFill>
          <a:ln/>
        </p:spPr>
      </p:sp>
      <p:sp>
        <p:nvSpPr>
          <p:cNvPr id="13" name="Text 11"/>
          <p:cNvSpPr/>
          <p:nvPr/>
        </p:nvSpPr>
        <p:spPr>
          <a:xfrm>
            <a:off x="10716768" y="1600200"/>
            <a:ext cx="877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1965960"/>
            <a:ext cx="1371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1965960"/>
            <a:ext cx="1243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LETHAL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74520" y="1965960"/>
            <a:ext cx="3200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38528" y="1965960"/>
            <a:ext cx="30723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QLD Shark Control Program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74920" y="1965960"/>
            <a:ext cx="4114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38928" y="1965960"/>
            <a:ext cx="3986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drumlines + mesh nets at 86 beaches. Still operating.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189720" y="1965960"/>
            <a:ext cx="1463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53728" y="1965960"/>
            <a:ext cx="13350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9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652760" y="1965960"/>
            <a:ext cx="10058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1965960"/>
            <a:ext cx="877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u="sng" dirty="0">
                <a:solidFill>
                  <a:srgbClr val="02707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↗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1965960"/>
            <a:ext cx="54864" cy="56692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" y="2532888"/>
            <a:ext cx="1371600" cy="566928"/>
          </a:xfrm>
          <a:prstGeom prst="rect">
            <a:avLst/>
          </a:prstGeom>
          <a:solidFill>
            <a:srgbClr val="F4F8FB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2532888"/>
            <a:ext cx="1243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874520" y="2532888"/>
            <a:ext cx="3200400" cy="566928"/>
          </a:xfrm>
          <a:prstGeom prst="rect">
            <a:avLst/>
          </a:prstGeom>
          <a:solidFill>
            <a:srgbClr val="F4F8FB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38528" y="2532888"/>
            <a:ext cx="30723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QLD Shark Management Plan 2025–29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74920" y="2532888"/>
            <a:ext cx="4114800" cy="566928"/>
          </a:xfrm>
          <a:prstGeom prst="rect">
            <a:avLst/>
          </a:prstGeom>
          <a:solidFill>
            <a:srgbClr val="F4F8FB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38928" y="2532888"/>
            <a:ext cx="3986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1 July 2025. Keeps nets &amp; traditional drumlines until alternatives are proven.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189720" y="2532888"/>
            <a:ext cx="1463040" cy="566928"/>
          </a:xfrm>
          <a:prstGeom prst="rect">
            <a:avLst/>
          </a:prstGeom>
          <a:solidFill>
            <a:srgbClr val="F4F8FB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53728" y="2532888"/>
            <a:ext cx="13350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9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Partly backs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0652760" y="2532888"/>
            <a:ext cx="1005840" cy="566928"/>
          </a:xfrm>
          <a:prstGeom prst="rect">
            <a:avLst/>
          </a:prstGeom>
          <a:solidFill>
            <a:srgbClr val="F4F8FB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716768" y="2532888"/>
            <a:ext cx="877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u="sng" dirty="0">
                <a:solidFill>
                  <a:srgbClr val="02707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↗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2920" y="2532888"/>
            <a:ext cx="54864" cy="566928"/>
          </a:xfrm>
          <a:prstGeom prst="rect">
            <a:avLst/>
          </a:prstGeom>
          <a:solidFill>
            <a:srgbClr val="F4C95D"/>
          </a:solidFill>
          <a:ln/>
        </p:spPr>
      </p:sp>
      <p:sp>
        <p:nvSpPr>
          <p:cNvPr id="36" name="Shape 34"/>
          <p:cNvSpPr/>
          <p:nvPr/>
        </p:nvSpPr>
        <p:spPr>
          <a:xfrm>
            <a:off x="502920" y="3099816"/>
            <a:ext cx="1371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3099816"/>
            <a:ext cx="1243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NON-LETHAL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874520" y="3099816"/>
            <a:ext cx="3200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38528" y="3099816"/>
            <a:ext cx="30723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QLD catch-alert drumline trial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074920" y="3099816"/>
            <a:ext cx="4114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38928" y="3099816"/>
            <a:ext cx="3986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alert; ~33 min response. Higher survival at release.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189720" y="3099816"/>
            <a:ext cx="1463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253728" y="3099816"/>
            <a:ext cx="13350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9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0652760" y="3099816"/>
            <a:ext cx="10058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716768" y="3099816"/>
            <a:ext cx="877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u="sng" dirty="0">
                <a:solidFill>
                  <a:srgbClr val="02707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↗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02920" y="3099816"/>
            <a:ext cx="54864" cy="5669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7" name="Shape 45"/>
          <p:cNvSpPr/>
          <p:nvPr/>
        </p:nvSpPr>
        <p:spPr>
          <a:xfrm>
            <a:off x="502920" y="3666744"/>
            <a:ext cx="1371600" cy="566928"/>
          </a:xfrm>
          <a:prstGeom prst="rect">
            <a:avLst/>
          </a:prstGeom>
          <a:solidFill>
            <a:srgbClr val="F4F8FB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6928" y="3666744"/>
            <a:ext cx="1243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NON-LETHAL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874520" y="3666744"/>
            <a:ext cx="3200400" cy="566928"/>
          </a:xfrm>
          <a:prstGeom prst="rect">
            <a:avLst/>
          </a:prstGeom>
          <a:solidFill>
            <a:srgbClr val="F4F8FB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938528" y="3666744"/>
            <a:ext cx="30723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NSW SMART drumlines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074920" y="3666744"/>
            <a:ext cx="4114800" cy="566928"/>
          </a:xfrm>
          <a:prstGeom prst="rect">
            <a:avLst/>
          </a:prstGeom>
          <a:solidFill>
            <a:srgbClr val="F4F8FB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38928" y="3666744"/>
            <a:ext cx="3986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305 SMART drumlines; tag-and-release within 30 min. 2025/26 program.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189720" y="3666744"/>
            <a:ext cx="1463040" cy="566928"/>
          </a:xfrm>
          <a:prstGeom prst="rect">
            <a:avLst/>
          </a:prstGeom>
          <a:solidFill>
            <a:srgbClr val="F4F8FB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53728" y="3666744"/>
            <a:ext cx="13350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9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 w/ caution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10652760" y="3666744"/>
            <a:ext cx="1005840" cy="566928"/>
          </a:xfrm>
          <a:prstGeom prst="rect">
            <a:avLst/>
          </a:prstGeom>
          <a:solidFill>
            <a:srgbClr val="F4F8FB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716768" y="3666744"/>
            <a:ext cx="877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u="sng" dirty="0">
                <a:solidFill>
                  <a:srgbClr val="02707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↗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02920" y="3666744"/>
            <a:ext cx="54864" cy="5669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8" name="Shape 56"/>
          <p:cNvSpPr/>
          <p:nvPr/>
        </p:nvSpPr>
        <p:spPr>
          <a:xfrm>
            <a:off x="502920" y="4233672"/>
            <a:ext cx="1371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6928" y="4233672"/>
            <a:ext cx="1243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LETHAL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1874520" y="4233672"/>
            <a:ext cx="3200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938528" y="4233672"/>
            <a:ext cx="30723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NSW shark meshing (nets)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074920" y="4233672"/>
            <a:ext cx="4114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138928" y="4233672"/>
            <a:ext cx="3986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 with high non-target bycatch. Netting named a key threatening process.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9189720" y="4233672"/>
            <a:ext cx="1463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253728" y="4233672"/>
            <a:ext cx="13350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9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Opposes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10652760" y="4233672"/>
            <a:ext cx="10058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716768" y="4233672"/>
            <a:ext cx="877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u="sng" dirty="0">
                <a:solidFill>
                  <a:srgbClr val="02707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↗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502920" y="4233672"/>
            <a:ext cx="54864" cy="56692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9" name="Shape 67"/>
          <p:cNvSpPr/>
          <p:nvPr/>
        </p:nvSpPr>
        <p:spPr>
          <a:xfrm>
            <a:off x="502920" y="4800600"/>
            <a:ext cx="1371600" cy="566928"/>
          </a:xfrm>
          <a:prstGeom prst="rect">
            <a:avLst/>
          </a:prstGeom>
          <a:solidFill>
            <a:srgbClr val="F4F8FB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66928" y="4800600"/>
            <a:ext cx="1243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ABANDONED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1874520" y="4800600"/>
            <a:ext cx="3200400" cy="566928"/>
          </a:xfrm>
          <a:prstGeom prst="rect">
            <a:avLst/>
          </a:prstGeom>
          <a:solidFill>
            <a:srgbClr val="F4F8FB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938528" y="4800600"/>
            <a:ext cx="30723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 lethal drum line program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5074920" y="4800600"/>
            <a:ext cx="4114800" cy="566928"/>
          </a:xfrm>
          <a:prstGeom prst="rect">
            <a:avLst/>
          </a:prstGeom>
          <a:solidFill>
            <a:srgbClr val="F4F8FB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138928" y="4800600"/>
            <a:ext cx="3986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 recommended against it in 2014 — scientific uncertainty over the white shark population.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9189720" y="4800600"/>
            <a:ext cx="1463040" cy="566928"/>
          </a:xfrm>
          <a:prstGeom prst="rect">
            <a:avLst/>
          </a:prstGeom>
          <a:solidFill>
            <a:srgbClr val="F4F8FB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253728" y="4800600"/>
            <a:ext cx="13350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9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as precedent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10652760" y="4800600"/>
            <a:ext cx="1005840" cy="566928"/>
          </a:xfrm>
          <a:prstGeom prst="rect">
            <a:avLst/>
          </a:prstGeom>
          <a:solidFill>
            <a:srgbClr val="F4F8FB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716768" y="4800600"/>
            <a:ext cx="877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u="sng" dirty="0">
                <a:solidFill>
                  <a:srgbClr val="02707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↗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502920" y="4800600"/>
            <a:ext cx="54864" cy="56692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0" name="Shape 78"/>
          <p:cNvSpPr/>
          <p:nvPr/>
        </p:nvSpPr>
        <p:spPr>
          <a:xfrm>
            <a:off x="502920" y="5367528"/>
            <a:ext cx="1371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66928" y="5367528"/>
            <a:ext cx="1243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ENDED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1874520" y="5367528"/>
            <a:ext cx="3200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938528" y="5367528"/>
            <a:ext cx="30723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 SMART drumline trial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5074920" y="5367528"/>
            <a:ext cx="4114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138928" y="5367528"/>
            <a:ext cx="3986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Scientist found it not effective in WA conditions.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9189720" y="5367528"/>
            <a:ext cx="1463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253728" y="5367528"/>
            <a:ext cx="13350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9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honestly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10652760" y="5367528"/>
            <a:ext cx="10058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6E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0716768" y="5367528"/>
            <a:ext cx="877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u="sng" dirty="0">
                <a:solidFill>
                  <a:srgbClr val="02707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↗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502920" y="5367528"/>
            <a:ext cx="54864" cy="56692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1" name="Shape 89"/>
          <p:cNvSpPr/>
          <p:nvPr/>
        </p:nvSpPr>
        <p:spPr>
          <a:xfrm>
            <a:off x="502920" y="6035040"/>
            <a:ext cx="11155680" cy="640080"/>
          </a:xfrm>
          <a:prstGeom prst="roundRect">
            <a:avLst>
              <a:gd name="adj" fmla="val 11429"/>
            </a:avLst>
          </a:prstGeom>
          <a:solidFill>
            <a:srgbClr val="FFF4E0"/>
          </a:solidFill>
          <a:ln w="12700">
            <a:solidFill>
              <a:srgbClr val="F4C95D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22960" y="603504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shark does not oppose everything. It backs catch-alert and SMART drumlines, and cites WA's own evidence even when it is inconvenient. An advocate that only ever says no is not credible.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8755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seat proved the model. The next step is to prove it can be built for any species, anywhere.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0B2A3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17320" y="18745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Choose an endangered species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377440"/>
            <a:ext cx="4343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beyond the shark. Select a species where the evidence is thinner and the advocacy is harder — the real test of the framework.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0B2A3F"/>
          </a:solidFill>
          <a:ln w="19050">
            <a:solidFill>
              <a:srgbClr val="F4C9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C95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132320" y="18745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Anchor it to a location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32320" y="2377440"/>
            <a:ext cx="4343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place. Research the species that live there, the threats they actually face, and give those species a voice.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886200"/>
            <a:ext cx="11155680" cy="1417320"/>
          </a:xfrm>
          <a:prstGeom prst="roundRect">
            <a:avLst>
              <a:gd name="adj" fmla="val 6452"/>
            </a:avLst>
          </a:prstGeom>
          <a:solidFill>
            <a:srgbClr val="0F3A52"/>
          </a:solidFill>
          <a:ln w="12700">
            <a:solidFill>
              <a:srgbClr val="0270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977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location-first pipeline — for the final presentation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4434840"/>
            <a:ext cx="2377440" cy="594360"/>
          </a:xfrm>
          <a:prstGeom prst="roundRect">
            <a:avLst>
              <a:gd name="adj" fmla="val 15385"/>
            </a:avLst>
          </a:prstGeom>
          <a:solidFill>
            <a:srgbClr val="0B2A3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4348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location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18688" y="448056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538728" y="4434840"/>
            <a:ext cx="2377440" cy="594360"/>
          </a:xfrm>
          <a:prstGeom prst="roundRect">
            <a:avLst>
              <a:gd name="adj" fmla="val 15385"/>
            </a:avLst>
          </a:prstGeom>
          <a:solidFill>
            <a:srgbClr val="0B2A3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38728" y="44348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its species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34456" y="448056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54496" y="4434840"/>
            <a:ext cx="2377440" cy="594360"/>
          </a:xfrm>
          <a:prstGeom prst="roundRect">
            <a:avLst>
              <a:gd name="adj" fmla="val 15385"/>
            </a:avLst>
          </a:prstGeom>
          <a:solidFill>
            <a:srgbClr val="0B2A3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54496" y="44348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real threats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50224" y="448056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970264" y="4434840"/>
            <a:ext cx="2377440" cy="594360"/>
          </a:xfrm>
          <a:prstGeom prst="roundRect">
            <a:avLst>
              <a:gd name="adj" fmla="val 15385"/>
            </a:avLst>
          </a:prstGeom>
          <a:solidFill>
            <a:srgbClr val="0B2A3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70264" y="44348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them a voice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5532120"/>
            <a:ext cx="11155680" cy="960120"/>
          </a:xfrm>
          <a:prstGeom prst="roundRect">
            <a:avLst>
              <a:gd name="adj" fmla="val 9524"/>
            </a:avLst>
          </a:prstGeom>
          <a:solidFill>
            <a:srgbClr val="09192F"/>
          </a:solidFill>
          <a:ln/>
        </p:spPr>
      </p:sp>
      <p:sp>
        <p:nvSpPr>
          <p:cNvPr id="26" name="Shape 24"/>
          <p:cNvSpPr/>
          <p:nvPr/>
        </p:nvSpPr>
        <p:spPr>
          <a:xfrm>
            <a:off x="777240" y="5715000"/>
            <a:ext cx="594360" cy="594360"/>
          </a:xfrm>
          <a:prstGeom prst="ellipse">
            <a:avLst/>
          </a:prstGeom>
          <a:solidFill>
            <a:srgbClr val="F4C95D"/>
          </a:solidFill>
          <a:ln/>
        </p:spPr>
      </p:sp>
      <p:pic>
        <p:nvPicPr>
          <p:cNvPr id="27" name="Image 0" descr="/home/claude/icon_bulb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" y="5845759"/>
            <a:ext cx="332842" cy="332842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554480" y="5532120"/>
            <a:ext cx="9875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location-first?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town hall is about a real place. “Should we build here?” only has meaning when you know who already lives there — and can hear them object.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9192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Where I am — and what I need from you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8755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status, and the decisions that are yours to make.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440680" cy="3200400"/>
          </a:xfrm>
          <a:prstGeom prst="roundRect">
            <a:avLst>
              <a:gd name="adj" fmla="val 2857"/>
            </a:avLst>
          </a:prstGeom>
          <a:solidFill>
            <a:srgbClr val="F4F8FB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/home/claude/icon_chec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2061058"/>
            <a:ext cx="358445" cy="358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65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192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Working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46888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Reframed as an advocate, not an assessment.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Shark argues first-person, self-interested, cited.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scientific sources — zero AI-generated facts.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GBIF pipeline + re-runnable proof notebook.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3D demo across 7 real policies.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691640"/>
            <a:ext cx="5440680" cy="3200400"/>
          </a:xfrm>
          <a:prstGeom prst="roundRect">
            <a:avLst>
              <a:gd name="adj" fmla="val 2857"/>
            </a:avLst>
          </a:prstGeom>
          <a:solidFill>
            <a:srgbClr val="09192F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1920240"/>
            <a:ext cx="640080" cy="640080"/>
          </a:xfrm>
          <a:prstGeom prst="ellipse">
            <a:avLst/>
          </a:prstGeom>
          <a:solidFill>
            <a:srgbClr val="F4C95D"/>
          </a:solidFill>
          <a:ln/>
        </p:spPr>
      </p:sp>
      <p:pic>
        <p:nvPicPr>
          <p:cNvPr id="11" name="Image 1" descr="/home/claude/icon_warning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058" y="2061058"/>
            <a:ext cx="358445" cy="35844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965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Decisions I need from you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83680" y="246888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town hall RESOLVE conflict between two self-interested species? Is that layer mine to build?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add a second representative to demonstrate a real clash?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data-poor species in scope, or out?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the shark ever concede a point, or always push?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" y="5166360"/>
            <a:ext cx="11155680" cy="822960"/>
          </a:xfrm>
          <a:prstGeom prst="roundRect">
            <a:avLst>
              <a:gd name="adj" fmla="val 11111"/>
            </a:avLst>
          </a:prstGeom>
          <a:solidFill>
            <a:srgbClr val="0B2A3F"/>
          </a:solidFill>
          <a:ln/>
        </p:spPr>
      </p:sp>
      <p:sp>
        <p:nvSpPr>
          <p:cNvPr id="15" name="Text 11"/>
          <p:cNvSpPr/>
          <p:nvPr/>
        </p:nvSpPr>
        <p:spPr>
          <a:xfrm>
            <a:off x="822960" y="51663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gaps I'm carrying: IUCN API token not yet issued; regional figures still being reconciled to the live pull.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2026-07-12T09:31:57Z</dcterms:created>
  <dcterms:modified xsi:type="dcterms:W3CDTF">2026-07-12T09:31:57Z</dcterms:modified>
</cp:coreProperties>
</file>